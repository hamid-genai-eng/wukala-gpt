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16" d="100"/>
          <a:sy n="116" d="100"/>
        </p:scale>
        <p:origin x="480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97643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7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320040" cy="5079492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777240"/>
            <a:ext cx="100584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737360"/>
            <a:ext cx="5029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WukalaGPT</a:t>
            </a:r>
            <a:endParaRPr lang="en-US" sz="5200" dirty="0"/>
          </a:p>
        </p:txBody>
      </p:sp>
      <p:sp>
        <p:nvSpPr>
          <p:cNvPr id="6" name="Text 3"/>
          <p:cNvSpPr/>
          <p:nvPr/>
        </p:nvSpPr>
        <p:spPr>
          <a:xfrm>
            <a:off x="548640" y="2542032"/>
            <a:ext cx="5486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 Legal Intelligence for the Modern Wakeel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548640" y="3127248"/>
            <a:ext cx="5029200" cy="2743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" y="3246120"/>
            <a:ext cx="5943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first bilingual AI-powered legal practice platform — built for 180,000+ lawyers.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548640" y="45720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Envision Technologies  ·  Seed Round 2025  ·  Confidential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589520" y="1097280"/>
            <a:ext cx="1371600" cy="2926080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8"/>
          <p:cNvSpPr/>
          <p:nvPr/>
        </p:nvSpPr>
        <p:spPr>
          <a:xfrm rot="16200000">
            <a:off x="7589520" y="1097280"/>
            <a:ext cx="1371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ROUND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27432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274320" y="82296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Pakistan has 180,000+ practicing lawyers.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274320" y="1691640"/>
            <a:ext cx="3108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them are still working the same way they did in 1985.</a:t>
            </a:r>
            <a:endParaRPr lang="en-US" sz="13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0160" y="3200400"/>
            <a:ext cx="1097280" cy="109728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3886200" y="27432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3886200" y="274320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23360" y="548640"/>
            <a:ext cx="411480" cy="41148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526280" y="365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Research Takes Days</a:t>
            </a:r>
            <a:endParaRPr lang="en-US" sz="1200" dirty="0"/>
          </a:p>
        </p:txBody>
      </p:sp>
      <p:sp>
        <p:nvSpPr>
          <p:cNvPr id="11" name="Text 7"/>
          <p:cNvSpPr/>
          <p:nvPr/>
        </p:nvSpPr>
        <p:spPr>
          <a:xfrm>
            <a:off x="4526280" y="6858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Lawyers manually sift through thousands of judgments. There is no intelligent search — just Google and prayer.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3886200" y="141732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Shape 9"/>
          <p:cNvSpPr/>
          <p:nvPr/>
        </p:nvSpPr>
        <p:spPr>
          <a:xfrm>
            <a:off x="3886200" y="1417320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23360" y="169164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526280" y="1508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Drafting is Guesswork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4526280" y="18288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petition, agreement, or plaint is drafted from scratch or copied from outdated templates with no legal accuracy check.</a:t>
            </a:r>
            <a:endParaRPr lang="en-US" sz="1000" dirty="0"/>
          </a:p>
        </p:txBody>
      </p:sp>
      <p:sp>
        <p:nvSpPr>
          <p:cNvPr id="17" name="Shape 12"/>
          <p:cNvSpPr/>
          <p:nvPr/>
        </p:nvSpPr>
        <p:spPr>
          <a:xfrm>
            <a:off x="3886200" y="256032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3"/>
          <p:cNvSpPr/>
          <p:nvPr/>
        </p:nvSpPr>
        <p:spPr>
          <a:xfrm>
            <a:off x="3886200" y="2560320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023360" y="2834640"/>
            <a:ext cx="411480" cy="41148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4526280" y="2651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English-Only Tools Fail in Pakistan</a:t>
            </a:r>
            <a:endParaRPr lang="en-US" sz="1200" dirty="0"/>
          </a:p>
        </p:txBody>
      </p:sp>
      <p:sp>
        <p:nvSpPr>
          <p:cNvPr id="21" name="Text 15"/>
          <p:cNvSpPr/>
          <p:nvPr/>
        </p:nvSpPr>
        <p:spPr>
          <a:xfrm>
            <a:off x="4526280" y="29718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work happens in Urdu, Punjabi, and regional languages. Every existing tool assumes English fluency — excluding the majority.</a:t>
            </a:r>
            <a:endParaRPr lang="en-US" sz="1000" dirty="0"/>
          </a:p>
        </p:txBody>
      </p:sp>
      <p:sp>
        <p:nvSpPr>
          <p:cNvPr id="22" name="Shape 16"/>
          <p:cNvSpPr/>
          <p:nvPr/>
        </p:nvSpPr>
        <p:spPr>
          <a:xfrm>
            <a:off x="3886200" y="3703320"/>
            <a:ext cx="5029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3" name="Shape 17"/>
          <p:cNvSpPr/>
          <p:nvPr/>
        </p:nvSpPr>
        <p:spPr>
          <a:xfrm>
            <a:off x="3886200" y="3703320"/>
            <a:ext cx="54864" cy="100584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23360" y="3977640"/>
            <a:ext cx="411480" cy="41148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4526280" y="3794760"/>
            <a:ext cx="4251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Unified Practice Management</a:t>
            </a:r>
            <a:endParaRPr lang="en-US" sz="1200" dirty="0"/>
          </a:p>
        </p:txBody>
      </p:sp>
      <p:sp>
        <p:nvSpPr>
          <p:cNvPr id="26" name="Text 19"/>
          <p:cNvSpPr/>
          <p:nvPr/>
        </p:nvSpPr>
        <p:spPr>
          <a:xfrm>
            <a:off x="4526280" y="4114800"/>
            <a:ext cx="4251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Cases, clients, hearings, billings — all managed in notebooks, WhatsApp groups, and Excel sheets.</a:t>
            </a:r>
            <a:endParaRPr lang="en-US" sz="10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WukalaGPT — One Platform. Every Workflow.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1261872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combine AI-powered case intelligence, bilingual legal research, automated document drafting,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practice management into a single product built ground-up for the Pakistani legal system.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365760" y="2057400"/>
            <a:ext cx="2651760" cy="12344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221992"/>
            <a:ext cx="384048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2194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MizanAI Engine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75488" y="26243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Multi-agent RAG system trained on Pakistani court judgments from LHC, SHC, PHC, and Supreme Court.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00400" y="2057400"/>
            <a:ext cx="2651760" cy="12344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37560" y="2221992"/>
            <a:ext cx="384048" cy="384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794760" y="2194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Interface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3310128" y="26243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Urdu &amp; English support — voice input, document output, and chat in the lawyer's native language.</a:t>
            </a:r>
            <a:endParaRPr lang="en-US" sz="950" dirty="0"/>
          </a:p>
        </p:txBody>
      </p:sp>
      <p:sp>
        <p:nvSpPr>
          <p:cNvPr id="13" name="Shape 9"/>
          <p:cNvSpPr/>
          <p:nvPr/>
        </p:nvSpPr>
        <p:spPr>
          <a:xfrm>
            <a:off x="6035040" y="2057400"/>
            <a:ext cx="2651760" cy="12344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72200" y="2221992"/>
            <a:ext cx="384048" cy="384048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6629400" y="219456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Doc Drafting</a:t>
            </a:r>
            <a:endParaRPr lang="en-US" sz="1100" dirty="0"/>
          </a:p>
        </p:txBody>
      </p:sp>
      <p:sp>
        <p:nvSpPr>
          <p:cNvPr id="16" name="Text 11"/>
          <p:cNvSpPr/>
          <p:nvPr/>
        </p:nvSpPr>
        <p:spPr>
          <a:xfrm>
            <a:off x="6144768" y="262432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Generate petitions, agreements, and legal notices in seconds using jurisdiction-specific AI templates.</a:t>
            </a:r>
            <a:endParaRPr lang="en-US" sz="950" dirty="0"/>
          </a:p>
        </p:txBody>
      </p:sp>
      <p:sp>
        <p:nvSpPr>
          <p:cNvPr id="17" name="Shape 12"/>
          <p:cNvSpPr/>
          <p:nvPr/>
        </p:nvSpPr>
        <p:spPr>
          <a:xfrm>
            <a:off x="365760" y="3474720"/>
            <a:ext cx="2651760" cy="12344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3639312"/>
            <a:ext cx="384048" cy="384048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96012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Voice-First Design</a:t>
            </a:r>
            <a:endParaRPr lang="en-US" sz="1100" dirty="0"/>
          </a:p>
        </p:txBody>
      </p:sp>
      <p:sp>
        <p:nvSpPr>
          <p:cNvPr id="20" name="Text 14"/>
          <p:cNvSpPr/>
          <p:nvPr/>
        </p:nvSpPr>
        <p:spPr>
          <a:xfrm>
            <a:off x="475488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Speak your case notes. Dictate in Urdu. WukalaGPT transcribes, summarizes, and files automatically.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3200400" y="3474720"/>
            <a:ext cx="2651760" cy="12344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3639312"/>
            <a:ext cx="384048" cy="384048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379476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Research Tool</a:t>
            </a:r>
            <a:endParaRPr lang="en-US" sz="1100" dirty="0"/>
          </a:p>
        </p:txBody>
      </p:sp>
      <p:sp>
        <p:nvSpPr>
          <p:cNvPr id="24" name="Text 17"/>
          <p:cNvSpPr/>
          <p:nvPr/>
        </p:nvSpPr>
        <p:spPr>
          <a:xfrm>
            <a:off x="3310128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Instant case law retrieval with cited precedents — no subscriptions, no manual search, no noise.</a:t>
            </a:r>
            <a:endParaRPr lang="en-US" sz="950" dirty="0"/>
          </a:p>
        </p:txBody>
      </p:sp>
      <p:sp>
        <p:nvSpPr>
          <p:cNvPr id="25" name="Shape 18"/>
          <p:cNvSpPr/>
          <p:nvPr/>
        </p:nvSpPr>
        <p:spPr>
          <a:xfrm>
            <a:off x="6035040" y="3474720"/>
            <a:ext cx="2651760" cy="1234440"/>
          </a:xfrm>
          <a:prstGeom prst="rect">
            <a:avLst/>
          </a:prstGeom>
          <a:solidFill>
            <a:srgbClr val="1A3050"/>
          </a:solidFill>
          <a:ln w="12700">
            <a:solidFill>
              <a:srgbClr val="1E3A5F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pic>
        <p:nvPicPr>
          <p:cNvPr id="26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172200" y="3639312"/>
            <a:ext cx="384048" cy="384048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6629400" y="361188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 &amp; Compliant</a:t>
            </a:r>
            <a:endParaRPr lang="en-US" sz="1100" dirty="0"/>
          </a:p>
        </p:txBody>
      </p:sp>
      <p:sp>
        <p:nvSpPr>
          <p:cNvPr id="28" name="Text 20"/>
          <p:cNvSpPr/>
          <p:nvPr/>
        </p:nvSpPr>
        <p:spPr>
          <a:xfrm>
            <a:off x="6144768" y="4041648"/>
            <a:ext cx="2423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RBAC access control, encrypted client data, and audit trails built for professional legal environments.</a:t>
            </a: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OPPORTUNITY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legal sector that generates billions — and has never been touched by modern technology.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20040" y="118872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18872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71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180,000+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32004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Practicing Lawyers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29768" y="2514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Registered with Bar Councils across Pakistan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468880" y="118872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468880" y="118872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468880" y="1371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$2.1B+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246888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Services TAM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578608" y="2514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Pakistan's annual legal services market size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617720" y="118872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617720" y="118872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17720" y="1371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~3%</a:t>
            </a:r>
            <a:endParaRPr lang="en-US" sz="3000" dirty="0"/>
          </a:p>
        </p:txBody>
      </p:sp>
      <p:sp>
        <p:nvSpPr>
          <p:cNvPr id="18" name="Text 16"/>
          <p:cNvSpPr/>
          <p:nvPr/>
        </p:nvSpPr>
        <p:spPr>
          <a:xfrm>
            <a:off x="461772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Penetration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727448" y="2514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Fraction of lawyers using any digital tooling today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6766560" y="1188720"/>
            <a:ext cx="196596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766560" y="1188720"/>
            <a:ext cx="196596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766560" y="1371600"/>
            <a:ext cx="1965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87%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6766560" y="2103120"/>
            <a:ext cx="1965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SME Law Firms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76288" y="2514600"/>
            <a:ext cx="1737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or small-firm lawyers — our primary beachhead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3566160"/>
            <a:ext cx="8503920" cy="13258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94360" y="3639312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~45,000 digitally-active lawyers in urban centers (Lahore, Karachi, Islamabad, Peshawar, Quetta)   </a:t>
            </a: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SOM: </a:t>
            </a: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Conservative 5% capture = 2,250 paying accounts in Year 1. At PKR 2,500/month average = PKR 67.5M ARR by end of Year 1.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MizanAI — The Intelligence Layer Behind WukalaGPT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676656" y="1298448"/>
            <a:ext cx="914400" cy="9144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63040"/>
            <a:ext cx="594360" cy="5943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591056" y="1709928"/>
            <a:ext cx="411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274320" y="23774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Lawyer Inputs Query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274320" y="27889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Urdu or English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or Text</a:t>
            </a:r>
            <a:endParaRPr lang="en-US" sz="850" dirty="0"/>
          </a:p>
        </p:txBody>
      </p:sp>
      <p:sp>
        <p:nvSpPr>
          <p:cNvPr id="9" name="Shape 6"/>
          <p:cNvSpPr/>
          <p:nvPr/>
        </p:nvSpPr>
        <p:spPr>
          <a:xfrm>
            <a:off x="2395728" y="1298448"/>
            <a:ext cx="914400" cy="9144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0320" y="1463040"/>
            <a:ext cx="594360" cy="5943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3310128" y="1709928"/>
            <a:ext cx="411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1993392" y="23774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MizanAI Understands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1993392" y="27889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BGE-M3 Embeddings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+ Contextual</a:t>
            </a:r>
            <a:endParaRPr lang="en-US" sz="850" dirty="0"/>
          </a:p>
        </p:txBody>
      </p:sp>
      <p:sp>
        <p:nvSpPr>
          <p:cNvPr id="14" name="Shape 10"/>
          <p:cNvSpPr/>
          <p:nvPr/>
        </p:nvSpPr>
        <p:spPr>
          <a:xfrm>
            <a:off x="4114800" y="1298448"/>
            <a:ext cx="914400" cy="91440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0D080"/>
            </a:solidFill>
            <a:prstDash val="solid"/>
          </a:ln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9392" y="1463040"/>
            <a:ext cx="594360" cy="59436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029200" y="1709928"/>
            <a:ext cx="411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7" name="Text 12"/>
          <p:cNvSpPr/>
          <p:nvPr/>
        </p:nvSpPr>
        <p:spPr>
          <a:xfrm>
            <a:off x="3712464" y="23774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Searches Judgment DB</a:t>
            </a:r>
            <a:endParaRPr lang="en-US" sz="1000" dirty="0"/>
          </a:p>
        </p:txBody>
      </p:sp>
      <p:sp>
        <p:nvSpPr>
          <p:cNvPr id="18" name="Text 13"/>
          <p:cNvSpPr/>
          <p:nvPr/>
        </p:nvSpPr>
        <p:spPr>
          <a:xfrm>
            <a:off x="3712464" y="27889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Vector Store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Graph Links</a:t>
            </a:r>
            <a:endParaRPr lang="en-US" sz="850" dirty="0"/>
          </a:p>
        </p:txBody>
      </p:sp>
      <p:sp>
        <p:nvSpPr>
          <p:cNvPr id="19" name="Shape 14"/>
          <p:cNvSpPr/>
          <p:nvPr/>
        </p:nvSpPr>
        <p:spPr>
          <a:xfrm>
            <a:off x="5833872" y="1298448"/>
            <a:ext cx="914400" cy="9144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998464" y="1463040"/>
            <a:ext cx="594360" cy="594360"/>
          </a:xfrm>
          <a:prstGeom prst="rect">
            <a:avLst/>
          </a:prstGeom>
        </p:spPr>
      </p:pic>
      <p:sp>
        <p:nvSpPr>
          <p:cNvPr id="21" name="Shape 15"/>
          <p:cNvSpPr/>
          <p:nvPr/>
        </p:nvSpPr>
        <p:spPr>
          <a:xfrm>
            <a:off x="6748272" y="1709928"/>
            <a:ext cx="411480" cy="73152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22" name="Text 16"/>
          <p:cNvSpPr/>
          <p:nvPr/>
        </p:nvSpPr>
        <p:spPr>
          <a:xfrm>
            <a:off x="5431536" y="23774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Synthesizes</a:t>
            </a:r>
            <a:endParaRPr lang="en-US" sz="1000" dirty="0"/>
          </a:p>
        </p:txBody>
      </p:sp>
      <p:sp>
        <p:nvSpPr>
          <p:cNvPr id="23" name="Text 17"/>
          <p:cNvSpPr/>
          <p:nvPr/>
        </p:nvSpPr>
        <p:spPr>
          <a:xfrm>
            <a:off x="5431536" y="27889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Multi-Agent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Chain-of-Thought</a:t>
            </a:r>
            <a:endParaRPr lang="en-US" sz="850" dirty="0"/>
          </a:p>
        </p:txBody>
      </p:sp>
      <p:sp>
        <p:nvSpPr>
          <p:cNvPr id="24" name="Shape 18"/>
          <p:cNvSpPr/>
          <p:nvPr/>
        </p:nvSpPr>
        <p:spPr>
          <a:xfrm>
            <a:off x="7552944" y="1298448"/>
            <a:ext cx="914400" cy="914400"/>
          </a:xfrm>
          <a:prstGeom prst="ellipse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pic>
        <p:nvPicPr>
          <p:cNvPr id="2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717536" y="1463040"/>
            <a:ext cx="594360" cy="59436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150608" y="2377440"/>
            <a:ext cx="1719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Output</a:t>
            </a:r>
            <a:endParaRPr lang="en-US" sz="1000" dirty="0"/>
          </a:p>
        </p:txBody>
      </p:sp>
      <p:sp>
        <p:nvSpPr>
          <p:cNvPr id="27" name="Text 20"/>
          <p:cNvSpPr/>
          <p:nvPr/>
        </p:nvSpPr>
        <p:spPr>
          <a:xfrm>
            <a:off x="7150608" y="2788920"/>
            <a:ext cx="1719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 Doc / Research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Summary</a:t>
            </a:r>
            <a:endParaRPr lang="en-US" sz="850" dirty="0"/>
          </a:p>
        </p:txBody>
      </p:sp>
      <p:sp>
        <p:nvSpPr>
          <p:cNvPr id="28" name="Shape 21"/>
          <p:cNvSpPr/>
          <p:nvPr/>
        </p:nvSpPr>
        <p:spPr>
          <a:xfrm>
            <a:off x="365760" y="3474720"/>
            <a:ext cx="8412480" cy="1417320"/>
          </a:xfrm>
          <a:prstGeom prst="rect">
            <a:avLst/>
          </a:prstGeom>
          <a:solidFill>
            <a:srgbClr val="07111E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9" name="Text 22"/>
          <p:cNvSpPr/>
          <p:nvPr/>
        </p:nvSpPr>
        <p:spPr>
          <a:xfrm>
            <a:off x="640080" y="356616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2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0" name="Shape 23"/>
          <p:cNvSpPr/>
          <p:nvPr/>
        </p:nvSpPr>
        <p:spPr>
          <a:xfrm>
            <a:off x="594360" y="390448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1" name="Text 24"/>
          <p:cNvSpPr/>
          <p:nvPr/>
        </p:nvSpPr>
        <p:spPr>
          <a:xfrm>
            <a:off x="594360" y="39044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(Backend)</a:t>
            </a:r>
            <a:endParaRPr lang="en-US" sz="900" dirty="0"/>
          </a:p>
        </p:txBody>
      </p:sp>
      <p:sp>
        <p:nvSpPr>
          <p:cNvPr id="32" name="Shape 25"/>
          <p:cNvSpPr/>
          <p:nvPr/>
        </p:nvSpPr>
        <p:spPr>
          <a:xfrm>
            <a:off x="3383280" y="390448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3" name="Text 26"/>
          <p:cNvSpPr/>
          <p:nvPr/>
        </p:nvSpPr>
        <p:spPr>
          <a:xfrm>
            <a:off x="3383280" y="39044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(Frontend)</a:t>
            </a:r>
            <a:endParaRPr lang="en-US" sz="900" dirty="0"/>
          </a:p>
        </p:txBody>
      </p:sp>
      <p:sp>
        <p:nvSpPr>
          <p:cNvPr id="34" name="Shape 27"/>
          <p:cNvSpPr/>
          <p:nvPr/>
        </p:nvSpPr>
        <p:spPr>
          <a:xfrm>
            <a:off x="6172200" y="390448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5" name="Text 28"/>
          <p:cNvSpPr/>
          <p:nvPr/>
        </p:nvSpPr>
        <p:spPr>
          <a:xfrm>
            <a:off x="6172200" y="390448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 (Orchestration)</a:t>
            </a:r>
            <a:endParaRPr lang="en-US" sz="900" dirty="0"/>
          </a:p>
        </p:txBody>
      </p:sp>
      <p:sp>
        <p:nvSpPr>
          <p:cNvPr id="36" name="Shape 29"/>
          <p:cNvSpPr/>
          <p:nvPr/>
        </p:nvSpPr>
        <p:spPr>
          <a:xfrm>
            <a:off x="594360" y="427024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594360" y="42702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Qdrant (Vector DB)</a:t>
            </a:r>
            <a:endParaRPr lang="en-US" sz="900" dirty="0"/>
          </a:p>
        </p:txBody>
      </p:sp>
      <p:sp>
        <p:nvSpPr>
          <p:cNvPr id="38" name="Shape 31"/>
          <p:cNvSpPr/>
          <p:nvPr/>
        </p:nvSpPr>
        <p:spPr>
          <a:xfrm>
            <a:off x="3383280" y="427024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3383280" y="42702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Neo4j (Knowledge Graph)</a:t>
            </a:r>
            <a:endParaRPr lang="en-US" sz="900" dirty="0"/>
          </a:p>
        </p:txBody>
      </p:sp>
      <p:sp>
        <p:nvSpPr>
          <p:cNvPr id="40" name="Shape 33"/>
          <p:cNvSpPr/>
          <p:nvPr/>
        </p:nvSpPr>
        <p:spPr>
          <a:xfrm>
            <a:off x="6172200" y="427024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41" name="Text 34"/>
          <p:cNvSpPr/>
          <p:nvPr/>
        </p:nvSpPr>
        <p:spPr>
          <a:xfrm>
            <a:off x="6172200" y="427024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Whisper (STT)</a:t>
            </a:r>
            <a:endParaRPr lang="en-US" sz="900" dirty="0"/>
          </a:p>
        </p:txBody>
      </p:sp>
      <p:sp>
        <p:nvSpPr>
          <p:cNvPr id="42" name="Shape 35"/>
          <p:cNvSpPr/>
          <p:nvPr/>
        </p:nvSpPr>
        <p:spPr>
          <a:xfrm>
            <a:off x="594360" y="463600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43" name="Text 36"/>
          <p:cNvSpPr/>
          <p:nvPr/>
        </p:nvSpPr>
        <p:spPr>
          <a:xfrm>
            <a:off x="594360" y="4636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Azure TTS / Orpheus TTS</a:t>
            </a:r>
            <a:endParaRPr lang="en-US" sz="900" dirty="0"/>
          </a:p>
        </p:txBody>
      </p:sp>
      <p:sp>
        <p:nvSpPr>
          <p:cNvPr id="44" name="Shape 37"/>
          <p:cNvSpPr/>
          <p:nvPr/>
        </p:nvSpPr>
        <p:spPr>
          <a:xfrm>
            <a:off x="3383280" y="463600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45" name="Text 38"/>
          <p:cNvSpPr/>
          <p:nvPr/>
        </p:nvSpPr>
        <p:spPr>
          <a:xfrm>
            <a:off x="3383280" y="4636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(Data Layer)</a:t>
            </a:r>
            <a:endParaRPr lang="en-US" sz="900" dirty="0"/>
          </a:p>
        </p:txBody>
      </p:sp>
      <p:sp>
        <p:nvSpPr>
          <p:cNvPr id="46" name="Shape 39"/>
          <p:cNvSpPr/>
          <p:nvPr/>
        </p:nvSpPr>
        <p:spPr>
          <a:xfrm>
            <a:off x="6172200" y="4636008"/>
            <a:ext cx="2514600" cy="292608"/>
          </a:xfrm>
          <a:prstGeom prst="roundRect">
            <a:avLst>
              <a:gd name="adj" fmla="val 15625"/>
            </a:avLst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47" name="Text 40"/>
          <p:cNvSpPr/>
          <p:nvPr/>
        </p:nvSpPr>
        <p:spPr>
          <a:xfrm>
            <a:off x="6172200" y="4636008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Gateway (Multi-LLM)</a:t>
            </a:r>
            <a:endParaRPr lang="en-US" sz="9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TRACTION &amp; MILESTONES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3891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D0F0E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have not launched yet — but we have not been standing still.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1490472"/>
            <a:ext cx="320040" cy="3200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86968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MVP built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86968" y="15544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product: case research, doc drafting, client management, voice interface — all functional.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709160" y="109728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892040" y="1490472"/>
            <a:ext cx="320040" cy="3200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321808" y="118872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MizanAI RAG pipeline live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321808" y="155448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multi-agent system operational. BGE-M3 embeddings, Qdrant + Neo4j, LangGraph orchestration.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274320" y="2337641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457200" y="2724912"/>
            <a:ext cx="320040" cy="3200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86968" y="2423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Court judgment corpus harvested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86968" y="2788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scraper collecting LHC, SHC, PHC, and Supreme Court judgments via Playwright — thousands of records indexed.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709160" y="2331720"/>
            <a:ext cx="420624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7A6E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4892040" y="2724912"/>
            <a:ext cx="320040" cy="320040"/>
          </a:xfrm>
          <a:prstGeom prst="ellipse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321808" y="242316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FYP presented at USKT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5321808" y="27889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 milestone presented. Full academic validation for the AI pipeline architecture.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886968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886968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321808" y="3657600"/>
            <a:ext cx="3429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321808" y="402336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95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3666"/>
            <a:ext cx="8229600" cy="35240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MODEL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21792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Simple, Scalable, Sticky Subscription Revenue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411480" y="1234440"/>
            <a:ext cx="2606040" cy="36576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1645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Solo Practitioner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02920" y="20574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PKR 1,999 / mo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02920" y="25237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48640" y="2834640"/>
            <a:ext cx="2331720" cy="18288"/>
          </a:xfrm>
          <a:prstGeom prst="rect">
            <a:avLst/>
          </a:prstGeom>
          <a:solidFill>
            <a:srgbClr val="2A457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AI Case Research </a:t>
            </a: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</a:t>
            </a: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queries/day)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594360" y="3273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Document Drafting </a:t>
            </a:r>
            <a:r>
              <a:rPr lang="en-US" sz="950" dirty="0" smtClean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(10 docs/day)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94360" y="36210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Client &amp; Hearing Management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594360" y="39684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Urdu/English Interface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94360" y="4315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Email Support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3246120" y="1143000"/>
            <a:ext cx="2606040" cy="3657600"/>
          </a:xfrm>
          <a:prstGeom prst="rect">
            <a:avLst/>
          </a:prstGeom>
          <a:solidFill>
            <a:srgbClr val="C9A84C"/>
          </a:solidFill>
          <a:ln w="12700">
            <a:solidFill>
              <a:srgbClr val="F0D08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246120" y="1234440"/>
            <a:ext cx="2606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POPULAR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383280" y="1645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Professional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3337560" y="20574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PKR 3,999 / mo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3337560" y="25237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383280" y="2834640"/>
            <a:ext cx="2331720" cy="18288"/>
          </a:xfrm>
          <a:prstGeom prst="rect">
            <a:avLst/>
          </a:prstGeom>
          <a:solidFill>
            <a:srgbClr val="1A3050"/>
          </a:solidFill>
          <a:ln w="12700">
            <a:solidFill>
              <a:srgbClr val="1A305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42900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AI Research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429000" y="3273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Unlimited Document Drafting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429000" y="36210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Voice Input (Urdu/English)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429000" y="39684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Advanced Analytics Dashboard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3429000" y="4315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Priority Support + Onboarding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080760" y="1234440"/>
            <a:ext cx="2606040" cy="36576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6217920" y="1645920"/>
            <a:ext cx="2331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Law Firm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72200" y="2057400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PKR 9,999 / mo</a:t>
            </a:r>
            <a:endParaRPr lang="en-US" sz="1800" dirty="0"/>
          </a:p>
        </p:txBody>
      </p:sp>
      <p:sp>
        <p:nvSpPr>
          <p:cNvPr id="28" name="Text 26"/>
          <p:cNvSpPr/>
          <p:nvPr/>
        </p:nvSpPr>
        <p:spPr>
          <a:xfrm>
            <a:off x="6172200" y="2523744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2834640"/>
            <a:ext cx="2331720" cy="18288"/>
          </a:xfrm>
          <a:prstGeom prst="rect">
            <a:avLst/>
          </a:prstGeom>
          <a:solidFill>
            <a:srgbClr val="2A457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263640" y="2926080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Up to 10 Team Members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263640" y="3273552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Shared Case Database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6263640" y="3621024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White-label Document Templates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263640" y="3968496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Dedicated Account Manager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6263640" y="4315968"/>
            <a:ext cx="2240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API Access for Integrations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57200" y="480060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users receive 30 days free — no credit card required.</a:t>
            </a:r>
            <a:endParaRPr lang="en-US" sz="11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8686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91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LANDSCAPE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20624"/>
            <a:ext cx="8229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B0C8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are not competing on features. We are competing on context.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274320" y="960120"/>
            <a:ext cx="237744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96012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651760" y="960120"/>
            <a:ext cx="1371600" cy="365760"/>
          </a:xfrm>
          <a:prstGeom prst="rect">
            <a:avLst/>
          </a:prstGeom>
          <a:solidFill>
            <a:srgbClr val="C9A84C"/>
          </a:solidFill>
          <a:ln w="12700">
            <a:solidFill>
              <a:srgbClr val="F0D08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65176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WukalaGPT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023360" y="960120"/>
            <a:ext cx="137160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023360" y="960120"/>
            <a:ext cx="1371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DigiLawyer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5394960" y="960120"/>
            <a:ext cx="155448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394960" y="96012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ChatGPT / GPT-4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949440" y="960120"/>
            <a:ext cx="1645920" cy="365760"/>
          </a:xfrm>
          <a:prstGeom prst="rect">
            <a:avLst/>
          </a:prstGeom>
          <a:solidFill>
            <a:srgbClr val="0D1B2A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9440" y="960120"/>
            <a:ext cx="1645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/ WhatsApp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1353312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135331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Bilingual (Urdu + English)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651760" y="1353312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651760" y="1353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023360" y="1353312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023360" y="135331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394960" y="1353312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394960" y="135331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949440" y="1353312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949440" y="135331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274320" y="1883664"/>
            <a:ext cx="237744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4320" y="1883664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Pakistani Case Law Training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2651760" y="1883664"/>
            <a:ext cx="137160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651760" y="18836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023360" y="1883664"/>
            <a:ext cx="137160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23360" y="1883664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5394960" y="1883664"/>
            <a:ext cx="155448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394960" y="1883664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6949440" y="1883664"/>
            <a:ext cx="164592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949440" y="188366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274320" y="2414016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4320" y="2414016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Voice Input in Urdu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2651760" y="2414016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651760" y="24140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4023360" y="2414016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4023360" y="2414016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1" name="Shape 39"/>
          <p:cNvSpPr/>
          <p:nvPr/>
        </p:nvSpPr>
        <p:spPr>
          <a:xfrm>
            <a:off x="5394960" y="2414016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394960" y="2414016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6949440" y="2414016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949440" y="241401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274320" y="2944368"/>
            <a:ext cx="237744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274320" y="2944368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Practice Management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2651760" y="2944368"/>
            <a:ext cx="137160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651760" y="29443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4023360" y="2944368"/>
            <a:ext cx="137160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4023360" y="2944368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5394960" y="2944368"/>
            <a:ext cx="155448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394960" y="2944368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3" name="Shape 51"/>
          <p:cNvSpPr/>
          <p:nvPr/>
        </p:nvSpPr>
        <p:spPr>
          <a:xfrm>
            <a:off x="6949440" y="2944368"/>
            <a:ext cx="164592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6949440" y="2944368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74320" y="3474720"/>
            <a:ext cx="237744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74320" y="3474720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Document Drafting</a:t>
            </a:r>
            <a:endParaRPr lang="en-US" sz="1000" dirty="0"/>
          </a:p>
        </p:txBody>
      </p:sp>
      <p:sp>
        <p:nvSpPr>
          <p:cNvPr id="57" name="Shape 55"/>
          <p:cNvSpPr/>
          <p:nvPr/>
        </p:nvSpPr>
        <p:spPr>
          <a:xfrm>
            <a:off x="2651760" y="34747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651760" y="3474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4023360" y="3474720"/>
            <a:ext cx="137160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4023360" y="3474720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5394960" y="3474720"/>
            <a:ext cx="155448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5394960" y="3474720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6949440" y="3474720"/>
            <a:ext cx="1645920" cy="5029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6949440" y="347472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65" name="Shape 63"/>
          <p:cNvSpPr/>
          <p:nvPr/>
        </p:nvSpPr>
        <p:spPr>
          <a:xfrm>
            <a:off x="274320" y="4005072"/>
            <a:ext cx="237744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274320" y="4005072"/>
            <a:ext cx="2377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Affordable for Solo Lawyers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2651760" y="4005072"/>
            <a:ext cx="137160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2651760" y="4005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69" name="Shape 67"/>
          <p:cNvSpPr/>
          <p:nvPr/>
        </p:nvSpPr>
        <p:spPr>
          <a:xfrm>
            <a:off x="4023360" y="4005072"/>
            <a:ext cx="137160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4023360" y="4005072"/>
            <a:ext cx="1371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300" dirty="0"/>
          </a:p>
        </p:txBody>
      </p:sp>
      <p:sp>
        <p:nvSpPr>
          <p:cNvPr id="71" name="Shape 69"/>
          <p:cNvSpPr/>
          <p:nvPr/>
        </p:nvSpPr>
        <p:spPr>
          <a:xfrm>
            <a:off x="5394960" y="4005072"/>
            <a:ext cx="155448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5394960" y="4005072"/>
            <a:ext cx="1554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</a:t>
            </a:r>
            <a:endParaRPr lang="en-US" sz="1300" dirty="0"/>
          </a:p>
        </p:txBody>
      </p:sp>
      <p:sp>
        <p:nvSpPr>
          <p:cNvPr id="73" name="Shape 71"/>
          <p:cNvSpPr/>
          <p:nvPr/>
        </p:nvSpPr>
        <p:spPr>
          <a:xfrm>
            <a:off x="6949440" y="4005072"/>
            <a:ext cx="1645920" cy="502920"/>
          </a:xfrm>
          <a:prstGeom prst="rect">
            <a:avLst/>
          </a:prstGeom>
          <a:solidFill>
            <a:srgbClr val="E8ECF3"/>
          </a:solidFill>
          <a:ln w="12700">
            <a:solidFill>
              <a:srgbClr val="E8ECF3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949440" y="400507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300" dirty="0"/>
          </a:p>
        </p:txBody>
      </p:sp>
      <p:sp>
        <p:nvSpPr>
          <p:cNvPr id="75" name="Text 73"/>
          <p:cNvSpPr/>
          <p:nvPr/>
        </p:nvSpPr>
        <p:spPr>
          <a:xfrm>
            <a:off x="274320" y="4663440"/>
            <a:ext cx="8595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DigiLawyer — Rs.14 Crore funded (Shark Tank Pakistan / Zayn VC) — validates the market. We are the AI-native, bilingual, full-stack alternative.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TEAM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640080"/>
            <a:ext cx="82296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Small team. Deep expertise. No wasted motion.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57200" y="1234440"/>
            <a:ext cx="3977640" cy="36576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920240" y="1371600"/>
            <a:ext cx="1051560" cy="10515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0D080"/>
            </a:solidFill>
            <a:prstDash val="solid"/>
          </a:ln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35" y="1504188"/>
            <a:ext cx="731520" cy="731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57200" y="25603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Hamid Saifullah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457200" y="29626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 smtClean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</a:t>
            </a: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Tech Lead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457200" y="32735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Envision Technologies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731520" y="3593592"/>
            <a:ext cx="3429000" cy="18288"/>
          </a:xfrm>
          <a:prstGeom prst="rect">
            <a:avLst/>
          </a:prstGeom>
          <a:solidFill>
            <a:srgbClr val="2A457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85800" y="3675888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and Tech Lead at CET. Final-year BS Computer Science, University of Sialkot. Architect of MizanAI — the multi-agent RAG system powering WukalaGPT. Deep expertise in FastAPI, LangGraph, Qdrant, React.js, and full-stack AI. Built every layer of the product from embedding pipelines to voice interfaces.</a:t>
            </a:r>
            <a:endParaRPr lang="en-US" sz="900" dirty="0"/>
          </a:p>
        </p:txBody>
      </p:sp>
      <p:sp>
        <p:nvSpPr>
          <p:cNvPr id="12" name="Shape 9"/>
          <p:cNvSpPr/>
          <p:nvPr/>
        </p:nvSpPr>
        <p:spPr>
          <a:xfrm>
            <a:off x="640080" y="4553712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07111E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4008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FastAPI · LangGraph · RAG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640080" y="4553712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07111E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 · PostgreSQL</a:t>
            </a:r>
            <a:endParaRPr lang="en-US" sz="900" dirty="0"/>
          </a:p>
        </p:txBody>
      </p:sp>
      <p:sp>
        <p:nvSpPr>
          <p:cNvPr id="16" name="Shape 13"/>
          <p:cNvSpPr/>
          <p:nvPr/>
        </p:nvSpPr>
        <p:spPr>
          <a:xfrm>
            <a:off x="640080" y="4553712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07111E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64008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· Qdrant · Neo4j</a:t>
            </a:r>
            <a:endParaRPr lang="en-US" sz="900" dirty="0"/>
          </a:p>
        </p:txBody>
      </p:sp>
      <p:sp>
        <p:nvSpPr>
          <p:cNvPr id="18" name="Shape 15"/>
          <p:cNvSpPr/>
          <p:nvPr/>
        </p:nvSpPr>
        <p:spPr>
          <a:xfrm>
            <a:off x="4800600" y="1234440"/>
            <a:ext cx="3977640" cy="3657600"/>
          </a:xfrm>
          <a:prstGeom prst="rect">
            <a:avLst/>
          </a:prstGeom>
          <a:solidFill>
            <a:srgbClr val="1A3050"/>
          </a:solidFill>
          <a:ln w="12700">
            <a:solidFill>
              <a:srgbClr val="2A4570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Shape 16"/>
          <p:cNvSpPr/>
          <p:nvPr/>
        </p:nvSpPr>
        <p:spPr>
          <a:xfrm>
            <a:off x="6263640" y="1371600"/>
            <a:ext cx="1051560" cy="1051560"/>
          </a:xfrm>
          <a:prstGeom prst="ellipse">
            <a:avLst/>
          </a:prstGeom>
          <a:solidFill>
            <a:srgbClr val="C9A84C"/>
          </a:solidFill>
          <a:ln w="12700">
            <a:solidFill>
              <a:srgbClr val="F0D080"/>
            </a:solidFill>
            <a:prstDash val="solid"/>
          </a:ln>
        </p:spPr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8232" y="1536192"/>
            <a:ext cx="731520" cy="73152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4800600" y="2560320"/>
            <a:ext cx="3977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 smtClean="0">
                <a:solidFill>
                  <a:srgbClr val="FFFFFF"/>
                </a:solidFill>
                <a:latin typeface="Georgia" pitchFamily="34" charset="0"/>
              </a:rPr>
              <a:t>Ahmed </a:t>
            </a:r>
            <a:r>
              <a:rPr lang="en-US" sz="1500" b="1" dirty="0" err="1" smtClean="0">
                <a:solidFill>
                  <a:srgbClr val="FFFFFF"/>
                </a:solidFill>
                <a:latin typeface="Georgia" pitchFamily="34" charset="0"/>
              </a:rPr>
              <a:t>Sarfaraz</a:t>
            </a:r>
            <a:r>
              <a:rPr lang="en-US" sz="1500" b="1" dirty="0" smtClean="0">
                <a:solidFill>
                  <a:srgbClr val="FFFFFF"/>
                </a:solidFill>
                <a:latin typeface="Georgia" pitchFamily="34" charset="0"/>
              </a:rPr>
              <a:t> </a:t>
            </a:r>
            <a:r>
              <a:rPr lang="en-US" sz="1500" b="1" dirty="0" err="1" smtClean="0">
                <a:solidFill>
                  <a:srgbClr val="FFFFFF"/>
                </a:solidFill>
                <a:latin typeface="Georgia" pitchFamily="34" charset="0"/>
              </a:rPr>
              <a:t>Tatla</a:t>
            </a:r>
            <a:endParaRPr lang="en-US" sz="1500" dirty="0"/>
          </a:p>
        </p:txBody>
      </p:sp>
      <p:sp>
        <p:nvSpPr>
          <p:cNvPr id="22" name="Text 18"/>
          <p:cNvSpPr/>
          <p:nvPr/>
        </p:nvSpPr>
        <p:spPr>
          <a:xfrm>
            <a:off x="4800600" y="2962656"/>
            <a:ext cx="3977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Co-Founder &amp; CEO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4800600" y="3273552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Envision Technologies</a:t>
            </a:r>
            <a:endParaRPr lang="en-US" sz="950" dirty="0"/>
          </a:p>
        </p:txBody>
      </p:sp>
      <p:sp>
        <p:nvSpPr>
          <p:cNvPr id="24" name="Shape 20"/>
          <p:cNvSpPr/>
          <p:nvPr/>
        </p:nvSpPr>
        <p:spPr>
          <a:xfrm>
            <a:off x="5074920" y="3593592"/>
            <a:ext cx="3429000" cy="18288"/>
          </a:xfrm>
          <a:prstGeom prst="rect">
            <a:avLst/>
          </a:prstGeom>
          <a:solidFill>
            <a:srgbClr val="2A4570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5029200" y="3675888"/>
            <a:ext cx="35204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of Code Envision Technologies. Leads commercial strategy, client acquisition, and business operations at CET. Experienced in enterprise software delivery, Pakistan's tech market, and building client-facing products across legal, retail, and manufacturing verticals.</a:t>
            </a:r>
            <a:endParaRPr lang="en-US" sz="900" dirty="0"/>
          </a:p>
        </p:txBody>
      </p:sp>
      <p:sp>
        <p:nvSpPr>
          <p:cNvPr id="26" name="Shape 22"/>
          <p:cNvSpPr/>
          <p:nvPr/>
        </p:nvSpPr>
        <p:spPr>
          <a:xfrm>
            <a:off x="4983480" y="4553712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07111E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7" name="Text 23"/>
          <p:cNvSpPr/>
          <p:nvPr/>
        </p:nvSpPr>
        <p:spPr>
          <a:xfrm>
            <a:off x="498348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Development</a:t>
            </a:r>
            <a:endParaRPr lang="en-US" sz="900" dirty="0"/>
          </a:p>
        </p:txBody>
      </p:sp>
      <p:sp>
        <p:nvSpPr>
          <p:cNvPr id="28" name="Shape 24"/>
          <p:cNvSpPr/>
          <p:nvPr/>
        </p:nvSpPr>
        <p:spPr>
          <a:xfrm>
            <a:off x="4983480" y="4553712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07111E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98348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 Sales · CET Operations</a:t>
            </a:r>
            <a:endParaRPr lang="en-US" sz="900" dirty="0"/>
          </a:p>
        </p:txBody>
      </p:sp>
      <p:sp>
        <p:nvSpPr>
          <p:cNvPr id="30" name="Shape 26"/>
          <p:cNvSpPr/>
          <p:nvPr/>
        </p:nvSpPr>
        <p:spPr>
          <a:xfrm>
            <a:off x="4983480" y="4553712"/>
            <a:ext cx="3611880" cy="256032"/>
          </a:xfrm>
          <a:prstGeom prst="roundRect">
            <a:avLst>
              <a:gd name="adj" fmla="val 17857"/>
            </a:avLst>
          </a:prstGeom>
          <a:solidFill>
            <a:srgbClr val="07111E"/>
          </a:solidFill>
          <a:ln w="12700">
            <a:solidFill>
              <a:srgbClr val="2A4570"/>
            </a:solidFill>
            <a:prstDash val="solid"/>
          </a:ln>
        </p:spPr>
      </p:sp>
      <p:sp>
        <p:nvSpPr>
          <p:cNvPr id="31" name="Text 27"/>
          <p:cNvSpPr/>
          <p:nvPr/>
        </p:nvSpPr>
        <p:spPr>
          <a:xfrm>
            <a:off x="4983480" y="455371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Strategy</a:t>
            </a:r>
            <a:endParaRPr lang="en-US" sz="900" dirty="0"/>
          </a:p>
        </p:txBody>
      </p:sp>
      <p:sp>
        <p:nvSpPr>
          <p:cNvPr id="32" name="Text 28"/>
          <p:cNvSpPr/>
          <p:nvPr/>
        </p:nvSpPr>
        <p:spPr>
          <a:xfrm>
            <a:off x="457200" y="4846320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Advisory conversations initiated with legal tech practitioners and practicing advocates in Lahore and Islamabad.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6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OF FUNDS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457200" y="4572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$150,000 seed round — 18-month runway to product-market fit.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274320" y="1115568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115568"/>
            <a:ext cx="3108960" cy="45720"/>
          </a:xfrm>
          <a:prstGeom prst="rect">
            <a:avLst/>
          </a:prstGeom>
          <a:solidFill>
            <a:srgbClr val="1B7A6E"/>
          </a:solidFill>
          <a:ln w="12700">
            <a:solidFill>
              <a:srgbClr val="1B7A6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188720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B7A6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40%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1005840" y="118872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&amp; AI Infrastructure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005840" y="1481328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7A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$60,000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389120" y="1207008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LLM API costs, vector DB scaling, voice pipeline, server infra, and ongoing model fine-tuning.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274320" y="1901952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" y="1901952"/>
            <a:ext cx="1943100" cy="45720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" y="1975104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9A84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1005840" y="1975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&amp; Marketing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005840" y="2267712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$37,500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89120" y="1993392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 council outreach, lawyer community events, digital marketing, and closed beta program.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2688336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274320" y="2688336"/>
            <a:ext cx="1554480" cy="45720"/>
          </a:xfrm>
          <a:prstGeom prst="rect">
            <a:avLst/>
          </a:prstGeom>
          <a:solidFill>
            <a:srgbClr val="7B5EA7"/>
          </a:solidFill>
          <a:ln w="12700">
            <a:solidFill>
              <a:srgbClr val="7B5EA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20040" y="2761488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7B5EA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20%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1005840" y="27614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Hiring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005840" y="3054096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B5EA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$30,000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389120" y="2779776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full-stack engineer + 1 sales/support hire to accelerate delivery and customer onboarding.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274320" y="3474720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74320" y="3474720"/>
            <a:ext cx="777240" cy="45720"/>
          </a:xfrm>
          <a:prstGeom prst="rect">
            <a:avLst/>
          </a:prstGeom>
          <a:solidFill>
            <a:srgbClr val="C0392B"/>
          </a:solidFill>
          <a:ln w="12700">
            <a:solidFill>
              <a:srgbClr val="C0392B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20040" y="3547872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1005840" y="35478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Legal &amp; Compliance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005840" y="3840480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$15,000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389120" y="3566160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privacy compliance, IP protection, company structuring, and bar council partnership agreements.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274320" y="4261104"/>
            <a:ext cx="8595360" cy="713232"/>
          </a:xfrm>
          <a:prstGeom prst="rect">
            <a:avLst/>
          </a:prstGeom>
          <a:solidFill>
            <a:srgbClr val="FFFFFF"/>
          </a:solidFill>
          <a:ln w="12700">
            <a:solidFill>
              <a:srgbClr val="E8ECF3"/>
            </a:solidFill>
            <a:prstDash val="solid"/>
          </a:ln>
          <a:effectLst>
            <a:outerShdw blurRad="1270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274320" y="4261104"/>
            <a:ext cx="388620" cy="45720"/>
          </a:xfrm>
          <a:prstGeom prst="rect">
            <a:avLst/>
          </a:prstGeom>
          <a:solidFill>
            <a:srgbClr val="8A9BB5"/>
          </a:solidFill>
          <a:ln w="12700">
            <a:solidFill>
              <a:srgbClr val="8A9BB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20040" y="4334256"/>
            <a:ext cx="594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8A9BB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5%</a:t>
            </a:r>
            <a:endParaRPr lang="en-US" sz="2000" dirty="0"/>
          </a:p>
        </p:txBody>
      </p:sp>
      <p:sp>
        <p:nvSpPr>
          <p:cNvPr id="32" name="Text 30"/>
          <p:cNvSpPr/>
          <p:nvPr/>
        </p:nvSpPr>
        <p:spPr>
          <a:xfrm>
            <a:off x="1005840" y="43342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 &amp; Contingency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1005840" y="4626864"/>
            <a:ext cx="1371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$7,500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389120" y="4352544"/>
            <a:ext cx="4297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Office, tools, travel, and reserve for unexpected operational needs.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9492"/>
            <a:ext cx="9144000" cy="64008"/>
          </a:xfrm>
          <a:prstGeom prst="rect">
            <a:avLst/>
          </a:prstGeom>
          <a:solidFill>
            <a:srgbClr val="C9A84C"/>
          </a:solidFill>
          <a:ln w="12700">
            <a:solidFill>
              <a:srgbClr val="C9A84C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31920" y="457200"/>
            <a:ext cx="1280160" cy="12801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1783080"/>
            <a:ext cx="8229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kern="0" spc="400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ASK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457200" y="2148840"/>
            <a:ext cx="8229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$150,000</a:t>
            </a:r>
            <a:endParaRPr lang="en-US" sz="5800" dirty="0"/>
          </a:p>
        </p:txBody>
      </p:sp>
      <p:sp>
        <p:nvSpPr>
          <p:cNvPr id="7" name="Text 4"/>
          <p:cNvSpPr/>
          <p:nvPr/>
        </p:nvSpPr>
        <p:spPr>
          <a:xfrm>
            <a:off x="457200" y="3017520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C9A8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Seed Investment — Pre-Series 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097280" y="3520440"/>
            <a:ext cx="6949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return: we offer equity at a valuation open for discussion. This round will fund 18 months of runway — taking WukalaGPT from MVP to </a:t>
            </a:r>
            <a:r>
              <a:rPr lang="en-US" sz="1200" dirty="0" smtClean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</a:t>
            </a:r>
            <a:r>
              <a:rPr lang="en-US" sz="12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active paying lawyers, a bar council partnership, and a Series A-ready revenue baseline.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457200" y="448056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A9BB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Envision Technologies  ·  WukalaGPT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</TotalTime>
  <Words>1196</Words>
  <Application>Microsoft Office PowerPoint</Application>
  <PresentationFormat>On-screen Show (16:9)</PresentationFormat>
  <Paragraphs>201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WukalaGPT — Investor Pitch Deck</dc:title>
  <dc:subject>PptxGenJS Presentation</dc:subject>
  <dc:creator>Code Envision Technologies</dc:creator>
  <cp:lastModifiedBy>HAMID</cp:lastModifiedBy>
  <cp:revision>4</cp:revision>
  <dcterms:created xsi:type="dcterms:W3CDTF">2026-05-09T01:40:56Z</dcterms:created>
  <dcterms:modified xsi:type="dcterms:W3CDTF">2026-05-09T03:22:16Z</dcterms:modified>
</cp:coreProperties>
</file>